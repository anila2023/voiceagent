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Policy Voice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Voice-enabled AI assistant for insurance policy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– Insurance Policy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Customers struggle to understand complex policy documents</a:t>
            </a:r>
          </a:p>
          <a:p>
            <a:pPr>
              <a:defRPr sz="2400"/>
            </a:pPr>
            <a:r>
              <a:t>Traditional support is slow and frustrating</a:t>
            </a:r>
          </a:p>
          <a:p>
            <a:pPr>
              <a:defRPr sz="2400"/>
            </a:pPr>
            <a:r>
              <a:t>Policy details are buried in lengthy PDFs</a:t>
            </a:r>
          </a:p>
          <a:p>
            <a:pPr>
              <a:defRPr sz="2400"/>
            </a:pPr>
            <a:r>
              <a:t>High risk of misinterpretation and missed benefits</a:t>
            </a:r>
          </a:p>
          <a:p>
            <a:pPr>
              <a:defRPr sz="2400"/>
            </a:pPr>
            <a:r>
              <a:t>Need for instant, reliable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Chatbots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Prone to hallucinations and wrong answers</a:t>
            </a:r>
          </a:p>
          <a:p>
            <a:pPr>
              <a:defRPr sz="2400"/>
            </a:pPr>
            <a:r>
              <a:t>Generic responses, not policy-specific</a:t>
            </a:r>
          </a:p>
          <a:p>
            <a:pPr>
              <a:defRPr sz="2400"/>
            </a:pPr>
            <a:r>
              <a:t>Poor handling of voice input/output</a:t>
            </a:r>
          </a:p>
          <a:p>
            <a:pPr>
              <a:defRPr sz="2400"/>
            </a:pPr>
            <a:r>
              <a:t>Lack of document grounding</a:t>
            </a:r>
          </a:p>
          <a:p>
            <a:pPr>
              <a:defRPr sz="2400"/>
            </a:pPr>
            <a:r>
              <a:t>Low user trust in critical insurance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– Voice-Enabled RAG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AI agent answers policy questions using real documents</a:t>
            </a:r>
          </a:p>
          <a:p>
            <a:pPr>
              <a:defRPr sz="2400"/>
            </a:pPr>
            <a:r>
              <a:t>Voice input and output for natural interaction</a:t>
            </a:r>
          </a:p>
          <a:p>
            <a:pPr>
              <a:defRPr sz="2400"/>
            </a:pPr>
            <a:r>
              <a:t>Retrieval-Augmented Generation (RAG) ensures accuracy</a:t>
            </a:r>
          </a:p>
          <a:p>
            <a:pPr>
              <a:defRPr sz="2400"/>
            </a:pPr>
            <a:r>
              <a:t>No hallucinations – answers only from indexed policies</a:t>
            </a:r>
          </a:p>
          <a:p>
            <a:pPr>
              <a:defRPr sz="2400"/>
            </a:pPr>
            <a:r>
              <a:t>FastAPI backend, browser-based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Frontend: Browser UI with Speech-to-Text &amp; Text-to-Speech</a:t>
            </a:r>
          </a:p>
          <a:p>
            <a:pPr>
              <a:defRPr sz="2400"/>
            </a:pPr>
            <a:r>
              <a:t>Backend: FastAPI orchestrates RAG and voice flows</a:t>
            </a:r>
          </a:p>
          <a:p>
            <a:pPr>
              <a:defRPr sz="2400"/>
            </a:pPr>
            <a:r>
              <a:t>AI: Google ADK Agents + Gemini LLMs</a:t>
            </a:r>
          </a:p>
          <a:p>
            <a:pPr>
              <a:defRPr sz="2400"/>
            </a:pPr>
            <a:r>
              <a:t>Vector DB: FAISS for fast, semantic document search</a:t>
            </a:r>
          </a:p>
          <a:p>
            <a:pPr>
              <a:defRPr sz="2400"/>
            </a:pPr>
            <a:r>
              <a:t>Modular, scalable, and cloud-ready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RAG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User query received (text or voice)</a:t>
            </a:r>
          </a:p>
          <a:p>
            <a:pPr>
              <a:defRPr sz="2400"/>
            </a:pPr>
            <a:r>
              <a:t>Query embedded using Gemini/AI model</a:t>
            </a:r>
          </a:p>
          <a:p>
            <a:pPr>
              <a:defRPr sz="2400"/>
            </a:pPr>
            <a:r>
              <a:t>FAISS vector search retrieves relevant policy chunks</a:t>
            </a:r>
          </a:p>
          <a:p>
            <a:pPr>
              <a:defRPr sz="2400"/>
            </a:pPr>
            <a:r>
              <a:t>Context passed to LLM for grounded answer</a:t>
            </a:r>
          </a:p>
          <a:p>
            <a:pPr>
              <a:defRPr sz="2400"/>
            </a:pPr>
            <a:r>
              <a:t>Only document-backed responses returned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User speaks into browser mic</a:t>
            </a:r>
          </a:p>
          <a:p>
            <a:pPr>
              <a:defRPr sz="2400"/>
            </a:pPr>
            <a:r>
              <a:t>Speech-to-Text (STT) converts to text</a:t>
            </a:r>
          </a:p>
          <a:p>
            <a:pPr>
              <a:defRPr sz="2400"/>
            </a:pPr>
            <a:r>
              <a:t>Text sent to backend RAG pipeline</a:t>
            </a:r>
          </a:p>
          <a:p>
            <a:pPr>
              <a:defRPr sz="2400"/>
            </a:pPr>
            <a:r>
              <a:t>Answer generated and sent back</a:t>
            </a:r>
          </a:p>
          <a:p>
            <a:pPr>
              <a:defRPr sz="2400"/>
            </a:pPr>
            <a:r>
              <a:t>Text-to-Speech (TTS) reads answer aloud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No-Hallucination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Strict grounding: answers only from indexed documents</a:t>
            </a:r>
          </a:p>
          <a:p>
            <a:pPr>
              <a:defRPr sz="2400"/>
            </a:pPr>
            <a:r>
              <a:t>RAG pipeline enforces document context</a:t>
            </a:r>
          </a:p>
          <a:p>
            <a:pPr>
              <a:defRPr sz="2400"/>
            </a:pPr>
            <a:r>
              <a:t>No open-ended LLM responses</a:t>
            </a:r>
          </a:p>
          <a:p>
            <a:pPr>
              <a:defRPr sz="2400"/>
            </a:pPr>
            <a:r>
              <a:t>Policy snippets shown as evidence</a:t>
            </a:r>
          </a:p>
          <a:p>
            <a:pPr>
              <a:defRPr sz="2400"/>
            </a:pPr>
            <a:r>
              <a:t>User trust through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Frontend: HTML, JS, Web Speech API</a:t>
            </a:r>
          </a:p>
          <a:p>
            <a:pPr>
              <a:defRPr sz="2400"/>
            </a:pPr>
            <a:r>
              <a:t>Backend: FastAPI (Python), Flask (optional)</a:t>
            </a:r>
          </a:p>
          <a:p>
            <a:pPr>
              <a:defRPr sz="2400"/>
            </a:pPr>
            <a:r>
              <a:t>AI: Google ADK, Gemini models</a:t>
            </a:r>
          </a:p>
          <a:p>
            <a:pPr>
              <a:defRPr sz="2400"/>
            </a:pPr>
            <a:r>
              <a:t>Vector DB: FAISS</a:t>
            </a:r>
          </a:p>
          <a:p>
            <a:pPr>
              <a:defRPr sz="2400"/>
            </a:pPr>
            <a:r>
              <a:t>Infra: Local or cloud deployable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Judge asks a real policy question via mic</a:t>
            </a:r>
          </a:p>
          <a:p>
            <a:pPr>
              <a:defRPr sz="2400"/>
            </a:pPr>
            <a:r>
              <a:t>System transcribes, searches, and answers instantly</a:t>
            </a:r>
          </a:p>
          <a:p>
            <a:pPr>
              <a:defRPr sz="2400"/>
            </a:pPr>
            <a:r>
              <a:t>Policy snippet shown as source</a:t>
            </a:r>
          </a:p>
          <a:p>
            <a:pPr>
              <a:defRPr sz="2400"/>
            </a:pPr>
            <a:r>
              <a:t>Voice output reads answer</a:t>
            </a:r>
          </a:p>
          <a:p>
            <a:pPr>
              <a:defRPr sz="2400"/>
            </a:pPr>
            <a:r>
              <a:t>End-to-end, judge-friendly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Enterprise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Modular microservices architecture</a:t>
            </a:r>
          </a:p>
          <a:p>
            <a:pPr>
              <a:defRPr sz="2400"/>
            </a:pPr>
            <a:r>
              <a:t>Easy to add new policy documents</a:t>
            </a:r>
          </a:p>
          <a:p>
            <a:pPr>
              <a:defRPr sz="2400"/>
            </a:pPr>
            <a:r>
              <a:t>Scalable vector search (FAISS)</a:t>
            </a:r>
          </a:p>
          <a:p>
            <a:pPr>
              <a:defRPr sz="2400"/>
            </a:pPr>
            <a:r>
              <a:t>Secure, compliant data handling</a:t>
            </a:r>
          </a:p>
          <a:p>
            <a:pPr>
              <a:defRPr sz="2400"/>
            </a:pPr>
            <a:r>
              <a:t>Ready for cloud or on-prem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Multilingual voice support</a:t>
            </a:r>
          </a:p>
          <a:p>
            <a:pPr>
              <a:defRPr sz="2400"/>
            </a:pPr>
            <a:r>
              <a:t>Integration with live insurance systems</a:t>
            </a:r>
          </a:p>
          <a:p>
            <a:pPr>
              <a:defRPr sz="2400"/>
            </a:pPr>
            <a:r>
              <a:t>Advanced analytics and reporting</a:t>
            </a:r>
          </a:p>
          <a:p>
            <a:pPr>
              <a:defRPr sz="2400"/>
            </a:pPr>
            <a:r>
              <a:t>Mobile app version</a:t>
            </a:r>
          </a:p>
          <a:p>
            <a:pPr>
              <a:defRPr sz="2400"/>
            </a:pPr>
            <a:r>
              <a:t>Continuous LLM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Impact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Solves real customer pain point</a:t>
            </a:r>
          </a:p>
          <a:p>
            <a:pPr>
              <a:defRPr sz="2400"/>
            </a:pPr>
            <a:r>
              <a:t>Demonstrates safe, grounded AI</a:t>
            </a:r>
          </a:p>
          <a:p>
            <a:pPr>
              <a:defRPr sz="2400"/>
            </a:pPr>
            <a:r>
              <a:t>Voice-first, accessible for all users</a:t>
            </a:r>
          </a:p>
          <a:p>
            <a:pPr>
              <a:defRPr sz="2400"/>
            </a:pPr>
            <a:r>
              <a:t>Ready for enterprise adoption</a:t>
            </a:r>
          </a:p>
          <a:p>
            <a:pPr>
              <a:defRPr sz="2400"/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